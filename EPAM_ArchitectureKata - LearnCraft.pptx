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4"/>
  </p:sldMasterIdLst>
  <p:notesMasterIdLst>
    <p:notesMasterId r:id="rId11"/>
  </p:notesMasterIdLst>
  <p:handoutMasterIdLst>
    <p:handoutMasterId r:id="rId12"/>
  </p:handoutMasterIdLst>
  <p:sldIdLst>
    <p:sldId id="313" r:id="rId5"/>
    <p:sldId id="267" r:id="rId6"/>
    <p:sldId id="325" r:id="rId7"/>
    <p:sldId id="324" r:id="rId8"/>
    <p:sldId id="327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BCCB"/>
    <a:srgbClr val="F15D45"/>
    <a:srgbClr val="222222"/>
    <a:srgbClr val="ABDBDD"/>
    <a:srgbClr val="0066B1"/>
    <a:srgbClr val="F58041"/>
    <a:srgbClr val="0091AC"/>
    <a:srgbClr val="10303E"/>
    <a:srgbClr val="76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DA71B-2249-5D4F-AD76-12D99E9F0427}" v="87" dt="2026-01-23T09:39:00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pos="3864"/>
        <p:guide orient="horz" pos="216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1812C9-625E-4000-92BE-42A910CD828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B7ECF28-BD45-034F-8DE1-0CD34B2466E2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Traditional learning platforms struggle to provide scalable, secure hands-on environments without high infrastructure costs or operational complexity.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gm:t>
    </dgm:pt>
    <dgm:pt modelId="{ACFA9542-9927-C541-9118-024F49BB5B46}" type="parTrans" cxnId="{8DCFFF49-6268-3E49-9E1B-5F208B9E042E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15458004-0B22-F644-8CE1-B2271F958023}" type="sibTrans" cxnId="{8DCFFF49-6268-3E49-9E1B-5F208B9E042E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2ECDDF74-98EF-834B-9794-F16B0059244A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The platform must support diverse learners—from beginners to advanced professionals—across multiple technologies and domains.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gm:t>
    </dgm:pt>
    <dgm:pt modelId="{377D22AD-E2ED-1041-A86F-17898C543141}" type="parTrans" cxnId="{A9AFFC91-9A1F-B744-A625-B181460A3E7D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BC388C10-8787-424C-893D-8D0ADD0E1609}" type="sibTrans" cxnId="{A9AFFC91-9A1F-B744-A625-B181460A3E7D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2BF3BBDF-1E53-FA4A-89DC-211AD4EA42C9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AI capabilities are essential to help learners quickly grasp concepts, navigate complex labs, and receive timely feedback without constant human intervention.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gm:t>
    </dgm:pt>
    <dgm:pt modelId="{57380FAC-ED79-C342-A71C-2213D2923BF6}" type="parTrans" cxnId="{9CAA1294-F8C6-0540-B0F8-B7F9F262D349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8BD3DDE0-A1FC-AF47-AD5B-5605A88E2175}" type="sibTrans" cxnId="{9CAA1294-F8C6-0540-B0F8-B7F9F262D349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EC8DF089-46BB-48C6-8F98-1FDB113F3803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Modern learners expect more than recorded videos; they want interactive, practical experiences that closely mirror real-world scenarios.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gm:t>
    </dgm:pt>
    <dgm:pt modelId="{20B779C7-65DE-42D4-8945-02540CF968B4}" type="parTrans" cxnId="{E43AEDA4-E00C-42D6-BAF5-B7AF1C573564}">
      <dgm:prSet/>
      <dgm:spPr/>
      <dgm:t>
        <a:bodyPr/>
        <a:lstStyle/>
        <a:p>
          <a:endParaRPr lang="en-GB"/>
        </a:p>
      </dgm:t>
    </dgm:pt>
    <dgm:pt modelId="{8ED70207-8F2E-4B0C-914D-E5501216F976}" type="sibTrans" cxnId="{E43AEDA4-E00C-42D6-BAF5-B7AF1C573564}">
      <dgm:prSet/>
      <dgm:spPr/>
      <dgm:t>
        <a:bodyPr/>
        <a:lstStyle/>
        <a:p>
          <a:endParaRPr lang="en-GB"/>
        </a:p>
      </dgm:t>
    </dgm:pt>
    <dgm:pt modelId="{F84AB389-3374-4A63-832B-A3879EA694C8}" type="pres">
      <dgm:prSet presAssocID="{6A1812C9-625E-4000-92BE-42A910CD8280}" presName="linear" presStyleCnt="0">
        <dgm:presLayoutVars>
          <dgm:animLvl val="lvl"/>
          <dgm:resizeHandles val="exact"/>
        </dgm:presLayoutVars>
      </dgm:prSet>
      <dgm:spPr/>
    </dgm:pt>
    <dgm:pt modelId="{D56A9292-5989-45F0-9802-9B8FB36FC2F5}" type="pres">
      <dgm:prSet presAssocID="{EC8DF089-46BB-48C6-8F98-1FDB113F38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30246B-DBED-4DF8-9DA7-7AD5DE79470C}" type="pres">
      <dgm:prSet presAssocID="{8ED70207-8F2E-4B0C-914D-E5501216F976}" presName="spacer" presStyleCnt="0"/>
      <dgm:spPr/>
    </dgm:pt>
    <dgm:pt modelId="{ABE93F0F-BBDF-A44F-BBD0-795651582C71}" type="pres">
      <dgm:prSet presAssocID="{DB7ECF28-BD45-034F-8DE1-0CD34B2466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7FE23B-C8D9-B245-B4E7-1ACC8C3F909F}" type="pres">
      <dgm:prSet presAssocID="{15458004-0B22-F644-8CE1-B2271F958023}" presName="spacer" presStyleCnt="0"/>
      <dgm:spPr/>
    </dgm:pt>
    <dgm:pt modelId="{E4708D60-1A13-5346-A61C-07FFBCB520B8}" type="pres">
      <dgm:prSet presAssocID="{2ECDDF74-98EF-834B-9794-F16B0059244A}" presName="parentText" presStyleLbl="node1" presStyleIdx="2" presStyleCnt="4" custLinFactNeighborX="16335" custLinFactNeighborY="6402">
        <dgm:presLayoutVars>
          <dgm:chMax val="0"/>
          <dgm:bulletEnabled val="1"/>
        </dgm:presLayoutVars>
      </dgm:prSet>
      <dgm:spPr/>
    </dgm:pt>
    <dgm:pt modelId="{CB0EBF1B-542A-3243-9941-12049413A7F1}" type="pres">
      <dgm:prSet presAssocID="{BC388C10-8787-424C-893D-8D0ADD0E1609}" presName="spacer" presStyleCnt="0"/>
      <dgm:spPr/>
    </dgm:pt>
    <dgm:pt modelId="{B2084E37-06BD-7E4D-A770-070CDCC36D4D}" type="pres">
      <dgm:prSet presAssocID="{2BF3BBDF-1E53-FA4A-89DC-211AD4EA42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AC1D14-4E52-49FA-9458-F2A1A106896D}" type="presOf" srcId="{2ECDDF74-98EF-834B-9794-F16B0059244A}" destId="{E4708D60-1A13-5346-A61C-07FFBCB520B8}" srcOrd="0" destOrd="0" presId="urn:microsoft.com/office/officeart/2005/8/layout/vList2"/>
    <dgm:cxn modelId="{8DCFFF49-6268-3E49-9E1B-5F208B9E042E}" srcId="{6A1812C9-625E-4000-92BE-42A910CD8280}" destId="{DB7ECF28-BD45-034F-8DE1-0CD34B2466E2}" srcOrd="1" destOrd="0" parTransId="{ACFA9542-9927-C541-9118-024F49BB5B46}" sibTransId="{15458004-0B22-F644-8CE1-B2271F958023}"/>
    <dgm:cxn modelId="{433B057D-7119-4DDA-9CA1-C94EFBA05FDB}" type="presOf" srcId="{DB7ECF28-BD45-034F-8DE1-0CD34B2466E2}" destId="{ABE93F0F-BBDF-A44F-BBD0-795651582C71}" srcOrd="0" destOrd="0" presId="urn:microsoft.com/office/officeart/2005/8/layout/vList2"/>
    <dgm:cxn modelId="{A9AFFC91-9A1F-B744-A625-B181460A3E7D}" srcId="{6A1812C9-625E-4000-92BE-42A910CD8280}" destId="{2ECDDF74-98EF-834B-9794-F16B0059244A}" srcOrd="2" destOrd="0" parTransId="{377D22AD-E2ED-1041-A86F-17898C543141}" sibTransId="{BC388C10-8787-424C-893D-8D0ADD0E1609}"/>
    <dgm:cxn modelId="{9CAA1294-F8C6-0540-B0F8-B7F9F262D349}" srcId="{6A1812C9-625E-4000-92BE-42A910CD8280}" destId="{2BF3BBDF-1E53-FA4A-89DC-211AD4EA42C9}" srcOrd="3" destOrd="0" parTransId="{57380FAC-ED79-C342-A71C-2213D2923BF6}" sibTransId="{8BD3DDE0-A1FC-AF47-AD5B-5605A88E2175}"/>
    <dgm:cxn modelId="{492E009B-114D-43EE-8503-61841AE8D5EB}" type="presOf" srcId="{2BF3BBDF-1E53-FA4A-89DC-211AD4EA42C9}" destId="{B2084E37-06BD-7E4D-A770-070CDCC36D4D}" srcOrd="0" destOrd="0" presId="urn:microsoft.com/office/officeart/2005/8/layout/vList2"/>
    <dgm:cxn modelId="{E43AEDA4-E00C-42D6-BAF5-B7AF1C573564}" srcId="{6A1812C9-625E-4000-92BE-42A910CD8280}" destId="{EC8DF089-46BB-48C6-8F98-1FDB113F3803}" srcOrd="0" destOrd="0" parTransId="{20B779C7-65DE-42D4-8945-02540CF968B4}" sibTransId="{8ED70207-8F2E-4B0C-914D-E5501216F976}"/>
    <dgm:cxn modelId="{EDDB50DF-FA87-43E6-A9E8-0D1A052F2F57}" type="presOf" srcId="{6A1812C9-625E-4000-92BE-42A910CD8280}" destId="{F84AB389-3374-4A63-832B-A3879EA694C8}" srcOrd="0" destOrd="0" presId="urn:microsoft.com/office/officeart/2005/8/layout/vList2"/>
    <dgm:cxn modelId="{F50F68FE-812D-46B1-A079-39BEF0C671A5}" type="presOf" srcId="{EC8DF089-46BB-48C6-8F98-1FDB113F3803}" destId="{D56A9292-5989-45F0-9802-9B8FB36FC2F5}" srcOrd="0" destOrd="0" presId="urn:microsoft.com/office/officeart/2005/8/layout/vList2"/>
    <dgm:cxn modelId="{268FF10E-24B7-421F-B7AC-5DB821932E17}" type="presParOf" srcId="{F84AB389-3374-4A63-832B-A3879EA694C8}" destId="{D56A9292-5989-45F0-9802-9B8FB36FC2F5}" srcOrd="0" destOrd="0" presId="urn:microsoft.com/office/officeart/2005/8/layout/vList2"/>
    <dgm:cxn modelId="{4E985043-31CD-4F99-AA86-0A897D020276}" type="presParOf" srcId="{F84AB389-3374-4A63-832B-A3879EA694C8}" destId="{AF30246B-DBED-4DF8-9DA7-7AD5DE79470C}" srcOrd="1" destOrd="0" presId="urn:microsoft.com/office/officeart/2005/8/layout/vList2"/>
    <dgm:cxn modelId="{EAB3857C-72C7-4558-AC52-DD13A0E52466}" type="presParOf" srcId="{F84AB389-3374-4A63-832B-A3879EA694C8}" destId="{ABE93F0F-BBDF-A44F-BBD0-795651582C71}" srcOrd="2" destOrd="0" presId="urn:microsoft.com/office/officeart/2005/8/layout/vList2"/>
    <dgm:cxn modelId="{BBFC9794-5D9D-4544-9E04-452C872809DC}" type="presParOf" srcId="{F84AB389-3374-4A63-832B-A3879EA694C8}" destId="{1A7FE23B-C8D9-B245-B4E7-1ACC8C3F909F}" srcOrd="3" destOrd="0" presId="urn:microsoft.com/office/officeart/2005/8/layout/vList2"/>
    <dgm:cxn modelId="{E8EDA29F-F787-4593-818C-63BE01EA8E36}" type="presParOf" srcId="{F84AB389-3374-4A63-832B-A3879EA694C8}" destId="{E4708D60-1A13-5346-A61C-07FFBCB520B8}" srcOrd="4" destOrd="0" presId="urn:microsoft.com/office/officeart/2005/8/layout/vList2"/>
    <dgm:cxn modelId="{323DF320-0C96-445C-B91F-42C7C3A53A5A}" type="presParOf" srcId="{F84AB389-3374-4A63-832B-A3879EA694C8}" destId="{CB0EBF1B-542A-3243-9941-12049413A7F1}" srcOrd="5" destOrd="0" presId="urn:microsoft.com/office/officeart/2005/8/layout/vList2"/>
    <dgm:cxn modelId="{2C348207-E1CE-4AB3-9347-2B6B27ADF362}" type="presParOf" srcId="{F84AB389-3374-4A63-832B-A3879EA694C8}" destId="{B2084E37-06BD-7E4D-A770-070CDCC36D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A9292-5989-45F0-9802-9B8FB36FC2F5}">
      <dsp:nvSpPr>
        <dsp:cNvPr id="0" name=""/>
        <dsp:cNvSpPr/>
      </dsp:nvSpPr>
      <dsp:spPr>
        <a:xfrm>
          <a:off x="0" y="373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Modern learners expect more than recorded videos; they want interactive, practical experiences that closely mirror real-world scenarios.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sp:txBody>
      <dsp:txXfrm>
        <a:off x="52089" y="89391"/>
        <a:ext cx="5720153" cy="962862"/>
      </dsp:txXfrm>
    </dsp:sp>
    <dsp:sp modelId="{ABE93F0F-BBDF-A44F-BBD0-795651582C71}">
      <dsp:nvSpPr>
        <dsp:cNvPr id="0" name=""/>
        <dsp:cNvSpPr/>
      </dsp:nvSpPr>
      <dsp:spPr>
        <a:xfrm>
          <a:off x="0" y="12685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Traditional learning platforms struggle to provide scalable, secure hands-on environments without high infrastructure costs or operational complexity.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sp:txBody>
      <dsp:txXfrm>
        <a:off x="52089" y="1320591"/>
        <a:ext cx="5720153" cy="962862"/>
      </dsp:txXfrm>
    </dsp:sp>
    <dsp:sp modelId="{E4708D60-1A13-5346-A61C-07FFBCB520B8}">
      <dsp:nvSpPr>
        <dsp:cNvPr id="0" name=""/>
        <dsp:cNvSpPr/>
      </dsp:nvSpPr>
      <dsp:spPr>
        <a:xfrm>
          <a:off x="0" y="251021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The platform must support diverse learners—from beginners to advanced professionals—across multiple technologies and domains.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sp:txBody>
      <dsp:txXfrm>
        <a:off x="52089" y="2562301"/>
        <a:ext cx="5720153" cy="962862"/>
      </dsp:txXfrm>
    </dsp:sp>
    <dsp:sp modelId="{B2084E37-06BD-7E4D-A770-070CDCC36D4D}">
      <dsp:nvSpPr>
        <dsp:cNvPr id="0" name=""/>
        <dsp:cNvSpPr/>
      </dsp:nvSpPr>
      <dsp:spPr>
        <a:xfrm>
          <a:off x="0" y="37309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rgbClr val="222222"/>
              </a:solidFill>
              <a:latin typeface="Calibri"/>
              <a:ea typeface="+mn-ea"/>
              <a:cs typeface="+mn-cs"/>
            </a:rPr>
            <a:t>AI capabilities are essential to help learners quickly grasp concepts, navigate complex labs, and receive timely feedback without constant human intervention.</a:t>
          </a:r>
          <a:endParaRPr lang="en-GB" sz="1600" kern="1200">
            <a:solidFill>
              <a:srgbClr val="222222"/>
            </a:solidFill>
            <a:latin typeface="Calibri"/>
            <a:ea typeface="+mn-ea"/>
            <a:cs typeface="+mn-cs"/>
          </a:endParaRPr>
        </a:p>
      </dsp:txBody>
      <dsp:txXfrm>
        <a:off x="52089" y="3782991"/>
        <a:ext cx="5720153" cy="962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7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51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7A75-38DE-665E-4517-00E2ACFE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852D9-E9BD-9FAB-C193-FD558C421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6DD2F-3224-104C-80C8-609FCE506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61D3E-B1B3-C68A-9F58-ACC9F61DD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8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85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519275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23 OCTOBER 2020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574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98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2707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550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35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897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992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55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515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53306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189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907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46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58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966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19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5764213" cy="388620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55238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450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91893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886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130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4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29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72845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54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7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1281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5543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083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86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83783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18615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939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71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930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212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016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2478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 userDrawn="1"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 userDrawn="1"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931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28714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843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30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52665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9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1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9043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  <p:sldLayoutId id="2147483903" r:id="rId19"/>
    <p:sldLayoutId id="2147483904" r:id="rId20"/>
    <p:sldLayoutId id="2147483905" r:id="rId21"/>
    <p:sldLayoutId id="2147483906" r:id="rId22"/>
    <p:sldLayoutId id="2147483907" r:id="rId23"/>
    <p:sldLayoutId id="2147483908" r:id="rId24"/>
    <p:sldLayoutId id="2147483909" r:id="rId25"/>
    <p:sldLayoutId id="2147483910" r:id="rId26"/>
    <p:sldLayoutId id="2147483911" r:id="rId27"/>
    <p:sldLayoutId id="2147483912" r:id="rId28"/>
    <p:sldLayoutId id="2147483913" r:id="rId29"/>
    <p:sldLayoutId id="2147483914" r:id="rId30"/>
    <p:sldLayoutId id="2147483915" r:id="rId31"/>
    <p:sldLayoutId id="2147483916" r:id="rId32"/>
    <p:sldLayoutId id="2147483917" r:id="rId33"/>
    <p:sldLayoutId id="2147483918" r:id="rId34"/>
    <p:sldLayoutId id="2147483919" r:id="rId35"/>
    <p:sldLayoutId id="2147483920" r:id="rId36"/>
    <p:sldLayoutId id="2147483921" r:id="rId37"/>
    <p:sldLayoutId id="2147483922" r:id="rId38"/>
    <p:sldLayoutId id="2147483923" r:id="rId39"/>
    <p:sldLayoutId id="2147483924" r:id="rId40"/>
    <p:sldLayoutId id="2147483925" r:id="rId41"/>
    <p:sldLayoutId id="2147483926" r:id="rId42"/>
    <p:sldLayoutId id="2147483927" r:id="rId43"/>
    <p:sldLayoutId id="2147483928" r:id="rId44"/>
    <p:sldLayoutId id="2147483929" r:id="rId45"/>
    <p:sldLayoutId id="214748393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B2B8C87F-6AC0-4460-A22E-27E7DB50D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" y="-2265"/>
            <a:ext cx="12181001" cy="68687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1151AE-30D9-4A17-ADDB-38CF7EF1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0820"/>
            <a:ext cx="10657001" cy="830997"/>
          </a:xfrm>
        </p:spPr>
        <p:txBody>
          <a:bodyPr/>
          <a:lstStyle/>
          <a:p>
            <a:pPr algn="ctr"/>
            <a:r>
              <a:rPr lang="en-US" sz="5400">
                <a:ln>
                  <a:solidFill>
                    <a:srgbClr val="76CDD8"/>
                  </a:solidFill>
                </a:ln>
                <a:solidFill>
                  <a:schemeClr val="accent2"/>
                </a:solidFill>
              </a:rPr>
              <a:t>Problem Statement – LearnCraft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CE0978-9F21-4FE8-B746-4C11AE1A4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017397"/>
            <a:ext cx="733425" cy="7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38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2E2B-9894-47B1-9E90-5903354B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6" y="1182142"/>
            <a:ext cx="4797425" cy="338554"/>
          </a:xfrm>
        </p:spPr>
        <p:txBody>
          <a:bodyPr anchor="t">
            <a:normAutofit/>
          </a:bodyPr>
          <a:lstStyle/>
          <a:p>
            <a:r>
              <a:rPr lang="en-US"/>
              <a:t>LearnCraft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BC1293-2954-2C40-A114-FA4637C6F8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486" y="1596573"/>
            <a:ext cx="5565541" cy="131843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IN"/>
              <a:t>A technology education company aims to build a modern online learning portal that delivers high-quality video tutorials combined with live, hands-on labs.</a:t>
            </a:r>
            <a:endParaRPr lang="en-US" b="0" i="0">
              <a:effectLst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65729D-FFC4-4A14-BEE7-827C4A7E3EA4}"/>
              </a:ext>
            </a:extLst>
          </p:cNvPr>
          <p:cNvSpPr txBox="1">
            <a:spLocks/>
          </p:cNvSpPr>
          <p:nvPr/>
        </p:nvSpPr>
        <p:spPr>
          <a:xfrm>
            <a:off x="452487" y="247541"/>
            <a:ext cx="343135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5400">
                <a:solidFill>
                  <a:schemeClr val="accent2"/>
                </a:solidFill>
              </a:rPr>
              <a:t>Kata 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D732E-075B-6C26-2303-E38A0DE2C60A}"/>
              </a:ext>
            </a:extLst>
          </p:cNvPr>
          <p:cNvSpPr txBox="1"/>
          <p:nvPr/>
        </p:nvSpPr>
        <p:spPr>
          <a:xfrm>
            <a:off x="452486" y="2525260"/>
            <a:ext cx="5511209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600" b="1" i="0">
                <a:solidFill>
                  <a:schemeClr val="bg1"/>
                </a:solidFill>
                <a:effectLst/>
              </a:rPr>
              <a:t>Business Objectives:</a:t>
            </a:r>
            <a:endParaRPr lang="en-US" sz="1600" b="1" i="0">
              <a:solidFill>
                <a:schemeClr val="bg1"/>
              </a:solidFill>
              <a:effectLst/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Improve knowledge retention by combining theory (videos) with immediate hands-on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Stand out by offering interactive, real-world labs instead of passive learning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Support a growing number of learners across regions without performance degradation.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Use AI-driven insights and assistance to keep learners motivated and on track.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Automate content support and learner guidance to reduce instructor and support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ea typeface="+mn-lt"/>
                <a:cs typeface="+mn-lt"/>
              </a:rPr>
              <a:t>Ensure secure, isolated lab environments and protect learner data.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032" name="Picture 8" descr="Hands-On Labs | ScholarHat">
            <a:extLst>
              <a:ext uri="{FF2B5EF4-FFF2-40B4-BE49-F238E27FC236}">
                <a16:creationId xmlns:a16="http://schemas.microsoft.com/office/drawing/2014/main" id="{950ED327-E42E-01FD-5873-9393F0C3C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027" y="1078538"/>
            <a:ext cx="5981780" cy="487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01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9F79D11-CAA4-4604-AB1E-260D249BAB6F}"/>
              </a:ext>
            </a:extLst>
          </p:cNvPr>
          <p:cNvSpPr txBox="1">
            <a:spLocks/>
          </p:cNvSpPr>
          <p:nvPr/>
        </p:nvSpPr>
        <p:spPr>
          <a:xfrm>
            <a:off x="452487" y="247541"/>
            <a:ext cx="343135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5400">
                <a:solidFill>
                  <a:schemeClr val="accent2"/>
                </a:solidFill>
              </a:rPr>
              <a:t>Context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C8F3E99-D3C1-48BF-8CE6-245628ED3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97473"/>
              </p:ext>
            </p:extLst>
          </p:nvPr>
        </p:nvGraphicFramePr>
        <p:xfrm>
          <a:off x="159026" y="1078538"/>
          <a:ext cx="5824331" cy="4835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7A514808-6BE0-19FE-B455-9ECB661FF80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8"/>
          <a:srcRect l="20370" r="20370"/>
          <a:stretch/>
        </p:blipFill>
        <p:spPr>
          <a:xfrm>
            <a:off x="6095998" y="-1"/>
            <a:ext cx="6096002" cy="6858001"/>
          </a:xfrm>
          <a:prstGeom prst="rect">
            <a:avLst/>
          </a:prstGeom>
          <a:solidFill>
            <a:srgbClr val="F6F6F6"/>
          </a:solidFill>
        </p:spPr>
      </p:pic>
    </p:spTree>
    <p:extLst>
      <p:ext uri="{BB962C8B-B14F-4D97-AF65-F5344CB8AC3E}">
        <p14:creationId xmlns:p14="http://schemas.microsoft.com/office/powerpoint/2010/main" val="14682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940AC70-7596-4150-A9C1-0B09543253C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r="16606"/>
          <a:stretch/>
        </p:blipFill>
        <p:spPr>
          <a:xfrm>
            <a:off x="6945086" y="1"/>
            <a:ext cx="5246914" cy="6857999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E2E2B-9894-47B1-9E90-5903354B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3" y="277647"/>
            <a:ext cx="4777141" cy="555729"/>
          </a:xfrm>
        </p:spPr>
        <p:txBody>
          <a:bodyPr vert="horz" wrap="square" lIns="0" tIns="0" rIns="0" bIns="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>
                <a:solidFill>
                  <a:schemeClr val="accent2"/>
                </a:solidFill>
                <a:latin typeface="Calibri Light"/>
                <a:ea typeface="Calibri"/>
                <a:cs typeface="Calibri Light"/>
              </a:rPr>
              <a:t>Key Requirements</a:t>
            </a:r>
            <a:endParaRPr lang="en-US" sz="4000">
              <a:solidFill>
                <a:schemeClr val="accent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28E-DB05-B2F6-577F-2E8B37E73A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773" y="1084161"/>
            <a:ext cx="5918405" cy="5215915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Learning Content Delivery</a:t>
            </a:r>
            <a:endParaRPr lang="en-IN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Host and stream video tutorials with support for structured courses, modules, and progress tracking. 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Enable AI-generated summaries of videos to help learners quickly revise key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Hands-On Lab Environment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Provide on-demand, browser-based lab environments for practical exercises.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Ensure labs are isolated, secure, time-bound, and resettable after each session.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Support multiple technology stacks and toolchains.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AI-Driven Learning Assistance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Generate summaries and key takeaways from lab activities and learner actions.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Provide contextual hints, explanations, or troubleshooting guidance during labs.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Offer personalized learning recommendations based on learner progress and behaviour.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Scalability &amp; Reliability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Handle high concurrent usage for videos and labs with predictable performance.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Support rapid onboarding of new courses, labs, and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User Experience &amp; Accessibility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Deliver a consistent web-based experience across devices.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Support multiple languages and regions as the platform grows.</a:t>
            </a:r>
          </a:p>
        </p:txBody>
      </p:sp>
    </p:spTree>
    <p:extLst>
      <p:ext uri="{BB962C8B-B14F-4D97-AF65-F5344CB8AC3E}">
        <p14:creationId xmlns:p14="http://schemas.microsoft.com/office/powerpoint/2010/main" val="278665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8755-2548-49A8-671F-187D4F6C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FB40-AEE2-0260-EFA2-1CD69720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4" y="277647"/>
            <a:ext cx="3754986" cy="555729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  <a:latin typeface="Calibri Light"/>
                <a:ea typeface="Calibri Light"/>
                <a:cs typeface="Calibri Light"/>
              </a:rPr>
              <a:t>Nice To Have</a:t>
            </a:r>
            <a:endParaRPr lang="en-US" sz="4000" b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A209D-F435-482C-A330-54C4C16916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773" y="1084161"/>
            <a:ext cx="5918405" cy="4977196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FFFF"/>
                </a:solidFill>
                <a:ea typeface="+mn-lt"/>
                <a:cs typeface="+mn-lt"/>
              </a:rPr>
              <a:t>Advanced AI Capabilities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Conversational AI tutor to answer learner questions based on course and lab context.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Auto-generate practice quizzes or challenges from video and lab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Instructor &amp; Content Support</a:t>
            </a:r>
            <a:endParaRPr lang="en-IN" sz="1400"/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AI-assisted content creation, including draft lab guides or video outlines.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Analytics to identify where learners struggle most within videos or labs.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Collaboration &amp; Community</a:t>
            </a:r>
            <a:endParaRPr lang="en-IN" sz="1400"/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Enable peer discussions, shared lab sessions, or guided group labs.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AI-moderated forums to surface high-quality answers and reduce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Adaptive Learning Paths</a:t>
            </a:r>
            <a:endParaRPr lang="en-IN" sz="1400"/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Dynamically adjust course recommendations based on learner goals, performance, 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and interests.</a:t>
            </a:r>
          </a:p>
          <a:p>
            <a:pPr lvl="1"/>
            <a:r>
              <a:rPr lang="en-IN" i="1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Offer skill-level certifications or readiness indicators driven by lab performance.</a:t>
            </a:r>
          </a:p>
          <a:p>
            <a:pPr marL="285750" indent="-285750">
              <a:buFont typeface="Arial"/>
              <a:buChar char="•"/>
            </a:pPr>
            <a:endParaRPr lang="en-US" sz="1400" i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200" i="1">
              <a:solidFill>
                <a:schemeClr val="accent3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i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8EF4CF6-0480-F9BA-61B5-D064F06797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5FC281-09A8-62C1-DD1A-4789691D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543" y="1084161"/>
            <a:ext cx="5918405" cy="38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5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1A04-149F-483B-9C36-B2E8E607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2875002"/>
            <a:ext cx="4545749" cy="110799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10529773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2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fc2c05-5e6b-475b-bbef-6b56fc7ecd8c">
      <UserInfo>
        <DisplayName>Ram Naresh</DisplayName>
        <AccountId>364</AccountId>
        <AccountType/>
      </UserInfo>
      <UserInfo>
        <DisplayName>Udaya Pellete</DisplayName>
        <AccountId>536</AccountId>
        <AccountType/>
      </UserInfo>
    </SharedWithUsers>
    <lcf76f155ced4ddcb4097134ff3c332f xmlns="537c4134-b21d-4e42-8211-320978d3665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0A76732CBA640A5AD4D3CFBE23375" ma:contentTypeVersion="15" ma:contentTypeDescription="Create a new document." ma:contentTypeScope="" ma:versionID="622644b688c924e80ea4232fc5fbc5ef">
  <xsd:schema xmlns:xsd="http://www.w3.org/2001/XMLSchema" xmlns:xs="http://www.w3.org/2001/XMLSchema" xmlns:p="http://schemas.microsoft.com/office/2006/metadata/properties" xmlns:ns2="537c4134-b21d-4e42-8211-320978d36653" xmlns:ns3="83fc2c05-5e6b-475b-bbef-6b56fc7ecd8c" targetNamespace="http://schemas.microsoft.com/office/2006/metadata/properties" ma:root="true" ma:fieldsID="84db286f06f0a751544852b04536eccc" ns2:_="" ns3:_="">
    <xsd:import namespace="537c4134-b21d-4e42-8211-320978d36653"/>
    <xsd:import namespace="83fc2c05-5e6b-475b-bbef-6b56fc7ecd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c4134-b21d-4e42-8211-320978d36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c2c05-5e6b-475b-bbef-6b56fc7ecd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88F095-8763-4476-A661-0F620BC6EBF5}">
  <ds:schemaRefs>
    <ds:schemaRef ds:uri="537c4134-b21d-4e42-8211-320978d36653"/>
    <ds:schemaRef ds:uri="83fc2c05-5e6b-475b-bbef-6b56fc7ecd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DF856C-4937-458B-A6E0-2D0F6DE0F24F}">
  <ds:schemaRefs>
    <ds:schemaRef ds:uri="537c4134-b21d-4e42-8211-320978d36653"/>
    <ds:schemaRef ds:uri="83fc2c05-5e6b-475b-bbef-6b56fc7ecd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7DF665-A7BA-439B-A97C-31094BDB4E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470</Words>
  <Application>Microsoft Macintosh PowerPoint</Application>
  <PresentationFormat>Widescreen</PresentationFormat>
  <Paragraphs>54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Bold</vt:lpstr>
      <vt:lpstr>Calibri Light</vt:lpstr>
      <vt:lpstr>EPAM Master 2021.2</vt:lpstr>
      <vt:lpstr>Problem Statement – LearnCraft</vt:lpstr>
      <vt:lpstr>LearnCraft</vt:lpstr>
      <vt:lpstr>PowerPoint Presentation</vt:lpstr>
      <vt:lpstr>Key Requirements</vt:lpstr>
      <vt:lpstr>Nice To Have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Atul Chauhan</dc:creator>
  <cp:keywords/>
  <dc:description/>
  <cp:lastModifiedBy>Atul Chauhan</cp:lastModifiedBy>
  <cp:revision>1</cp:revision>
  <dcterms:created xsi:type="dcterms:W3CDTF">2020-10-26T14:33:58Z</dcterms:created>
  <dcterms:modified xsi:type="dcterms:W3CDTF">2026-01-23T09:42:19Z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0x0101003BB5F0D581610145B9893377290BA5BE</vt:lpwstr>
  </property>
  <property fmtid="{D5CDD505-2E9C-101B-9397-08002B2CF9AE}" pid="3" name="Order">
    <vt:r8>36400</vt:r8>
  </property>
  <property fmtid="{D5CDD505-2E9C-101B-9397-08002B2CF9AE}" pid="4" name="xd_Signature">
    <vt:bool>false</vt:bool>
  </property>
  <property fmtid="{D5CDD505-2E9C-101B-9397-08002B2CF9AE}" pid="5" name="SharedWithUsers">
    <vt:lpwstr>364;#Ram Naresh;#536;#Udaya Pellete</vt:lpwstr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  <property fmtid="{D5CDD505-2E9C-101B-9397-08002B2CF9AE}" pid="12" name="MSIP_Label_2a535040-0af2-483f-adc3-a132c21e3e2b_Enabled">
    <vt:lpwstr>true</vt:lpwstr>
  </property>
  <property fmtid="{D5CDD505-2E9C-101B-9397-08002B2CF9AE}" pid="13" name="MSIP_Label_2a535040-0af2-483f-adc3-a132c21e3e2b_SetDate">
    <vt:lpwstr>2024-03-27T13:37:43Z</vt:lpwstr>
  </property>
  <property fmtid="{D5CDD505-2E9C-101B-9397-08002B2CF9AE}" pid="14" name="MSIP_Label_2a535040-0af2-483f-adc3-a132c21e3e2b_Method">
    <vt:lpwstr>Standard</vt:lpwstr>
  </property>
  <property fmtid="{D5CDD505-2E9C-101B-9397-08002B2CF9AE}" pid="15" name="MSIP_Label_2a535040-0af2-483f-adc3-a132c21e3e2b_Name">
    <vt:lpwstr>EPAM_Confidential</vt:lpwstr>
  </property>
  <property fmtid="{D5CDD505-2E9C-101B-9397-08002B2CF9AE}" pid="16" name="MSIP_Label_2a535040-0af2-483f-adc3-a132c21e3e2b_SiteId">
    <vt:lpwstr>b41b72d0-4e9f-4c26-8a69-f949f367c91d</vt:lpwstr>
  </property>
  <property fmtid="{D5CDD505-2E9C-101B-9397-08002B2CF9AE}" pid="17" name="MSIP_Label_2a535040-0af2-483f-adc3-a132c21e3e2b_ActionId">
    <vt:lpwstr>613245db-d082-4789-83e8-cc852c0458a3</vt:lpwstr>
  </property>
  <property fmtid="{D5CDD505-2E9C-101B-9397-08002B2CF9AE}" pid="18" name="MSIP_Label_2a535040-0af2-483f-adc3-a132c21e3e2b_ContentBits">
    <vt:lpwstr>0</vt:lpwstr>
  </property>
</Properties>
</file>